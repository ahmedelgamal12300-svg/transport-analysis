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3530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morning. We present Transport Analysis — an end-to-end data and AI platform for public transport intelligence, developed under DEPI.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Our team collaborated across data engineering, analytics, BI, and project management roles to deliver every milestone.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will walk from the business problem to the technical solution, show results, and demo the interactive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core problem is turning raw transport CSV data into actionable intelligence at scale — not just storing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objectives align directly with DEPI milestones: ingestion, development, deployment, automation, and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Data flows from raw CSV through ETL layers into SQL analytics and ML, ending in a live Streamlit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used industry-standard tools — the same categories used in cloud warehouses and modern data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Bronze keeps raw data, Silver adds engineered features, Gold delivers business-ready aggregates for executives.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SQL answers the business questions stakeholders ask every day — revenue, delays, peaks, and zones.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ML moves the project from descriptive analytics to predictive intelligence — forecasting fare and delay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KPIs prove the pipeline works end-to-end on real-scale sample data with meaningful business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out taxi bar height vs bus and metro — revenue vs volume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operations value — this supports staffing and routing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Connect to business: deploy more vehicles before peaks, reduce off-peak waste.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scatter clusters — different vehicle types, different economics.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insights are actionable — not just charts. They guide pricing, fleet allocation, and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Live demo: open localhost:8501, filter by High traffic, show delay rate spike. This is the executive-facing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designed for real-world constraints — environments without Java still run the full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project is production-ready as a foundation — cloud deployment is the natural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you for your time. We are ready for questions and a live dashboard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A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772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Transport Analysis</a:t>
            </a:r>
          </a:p>
          <a:p>
            <a:pPr>
              <a:defRPr sz="2200">
                <a:solidFill>
                  <a:srgbClr val="E67E22"/>
                </a:solidFill>
              </a:defRPr>
            </a:pPr>
            <a:r>
              <a:t>Intelligent Public Transport Analytics Platform</a:t>
            </a:r>
          </a:p>
          <a:p>
            <a:pPr>
              <a:defRPr sz="1800">
                <a:solidFill>
                  <a:srgbClr val="B4C8DC"/>
                </a:solidFill>
              </a:defRPr>
            </a:pPr>
            <a:r>
              <a:t>Digital Egypt Pioneers Initiative (DEPI)</a:t>
            </a:r>
          </a:p>
          <a:p>
            <a:pPr>
              <a:defRPr sz="1600">
                <a:solidFill>
                  <a:srgbClr val="A0B4C8"/>
                </a:solidFill>
              </a:defRPr>
            </a:pPr>
            <a:r>
              <a:t>AI &amp; Data Science Track  •  Graduation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Transport Analysis  |  Digital Egypt Pioneers Initiative (DEPI)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9184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63A58"/>
                </a:solidFill>
              </a:defRPr>
            </a:pPr>
            <a:r>
              <a:t>Our Team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347588"/>
              </p:ext>
            </p:extLst>
          </p:nvPr>
        </p:nvGraphicFramePr>
        <p:xfrm>
          <a:off x="731520" y="1645920"/>
          <a:ext cx="76809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63A58"/>
                          </a:solidFill>
                        </a:defRPr>
                      </a:pPr>
                      <a:r>
                        <a:t>Ahmed El-Gamal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63A58"/>
                          </a:solidFill>
                        </a:defRPr>
                      </a:pPr>
                      <a:r>
                        <a:t>Youssef Mustafa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63A58"/>
                          </a:solidFill>
                        </a:defRPr>
                      </a:pPr>
                      <a:r>
                        <a:t>Maryam Khaled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63A58"/>
                          </a:solidFill>
                        </a:defRPr>
                      </a:pPr>
                      <a:r>
                        <a:rPr b="1" dirty="0"/>
                        <a:t>Mariam Tarek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63A58"/>
                          </a:solidFill>
                        </a:defRPr>
                      </a:pPr>
                      <a:r>
                        <a:rPr b="1" dirty="0"/>
                        <a:t>Mostafa Fouad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63A58"/>
                          </a:solidFill>
                        </a:defRPr>
                      </a:pPr>
                      <a:r>
                        <a:rPr b="1" dirty="0"/>
                        <a:t>Nada Ahmed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Transport Analysis  |  Digital Egypt Pioneers Initiative (DEPI)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63A58"/>
                </a:solidFill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D41"/>
                </a:solidFill>
              </a:defRPr>
            </a:pPr>
            <a:r>
              <a:t>Problem Statement &amp; Project Vision</a:t>
            </a:r>
          </a:p>
          <a:p>
            <a:pPr>
              <a:spcAft>
                <a:spcPts val="1000"/>
              </a:spcAft>
              <a:defRPr sz="2000">
                <a:solidFill>
                  <a:srgbClr val="1E2D41"/>
                </a:solidFill>
              </a:defRPr>
            </a:pPr>
            <a:r>
              <a:t>Solution Architecture &amp; Technology Stack</a:t>
            </a:r>
          </a:p>
          <a:p>
            <a:pPr>
              <a:spcAft>
                <a:spcPts val="1000"/>
              </a:spcAft>
              <a:defRPr sz="2000">
                <a:solidFill>
                  <a:srgbClr val="1E2D41"/>
                </a:solidFill>
              </a:defRPr>
            </a:pPr>
            <a:r>
              <a:t>Data Pipeline: Ingestion → ETL → SQL Warehouse</a:t>
            </a:r>
          </a:p>
          <a:p>
            <a:pPr>
              <a:spcAft>
                <a:spcPts val="1000"/>
              </a:spcAft>
              <a:defRPr sz="2000">
                <a:solidFill>
                  <a:srgbClr val="1E2D41"/>
                </a:solidFill>
              </a:defRPr>
            </a:pPr>
            <a:r>
              <a:t>Machine Learning &amp; Predictive Analytics</a:t>
            </a:r>
          </a:p>
          <a:p>
            <a:pPr>
              <a:spcAft>
                <a:spcPts val="1000"/>
              </a:spcAft>
              <a:defRPr sz="2000">
                <a:solidFill>
                  <a:srgbClr val="1E2D41"/>
                </a:solidFill>
              </a:defRPr>
            </a:pPr>
            <a:r>
              <a:t>Results, Insights &amp; Live Dashboard Demo</a:t>
            </a:r>
          </a:p>
          <a:p>
            <a:pPr>
              <a:spcAft>
                <a:spcPts val="1000"/>
              </a:spcAft>
              <a:defRPr sz="2000">
                <a:solidFill>
                  <a:srgbClr val="1E2D41"/>
                </a:solidFill>
              </a:defRPr>
            </a:pPr>
            <a:r>
              <a:t>Impact, Challenges &amp; Future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Transport Analysis  |  Digital Egypt Pioneers Initiative (DEPI)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63A58"/>
                </a:solidFill>
              </a:defRPr>
            </a:pPr>
            <a:r>
              <a:t>Problem Statement</a:t>
            </a:r>
          </a:p>
          <a:p>
            <a:pPr>
              <a:defRPr sz="1600">
                <a:solidFill>
                  <a:srgbClr val="E67E22"/>
                </a:solidFill>
              </a:defRPr>
            </a:pPr>
            <a:r>
              <a:t>Why this project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E2D41"/>
                </a:solidFill>
              </a:defRPr>
            </a:pPr>
            <a:r>
              <a:t>Transport operators collect massive trip data but struggle to extract timely insights</a:t>
            </a:r>
          </a:p>
          <a:p>
            <a:pPr>
              <a:spcAft>
                <a:spcPts val="1000"/>
              </a:spcAft>
              <a:defRPr sz="1900">
                <a:solidFill>
                  <a:srgbClr val="1E2D41"/>
                </a:solidFill>
              </a:defRPr>
            </a:pPr>
            <a:r>
              <a:t>Manual spreadsheets cannot scale to thousands of trips and multiple variables</a:t>
            </a:r>
          </a:p>
          <a:p>
            <a:pPr>
              <a:spcAft>
                <a:spcPts val="1000"/>
              </a:spcAft>
              <a:defRPr sz="1900">
                <a:solidFill>
                  <a:srgbClr val="1E2D41"/>
                </a:solidFill>
              </a:defRPr>
            </a:pPr>
            <a:r>
              <a:t>Delays, revenue leakage, and peak-hour congestion need data-driven responses</a:t>
            </a:r>
          </a:p>
          <a:p>
            <a:pPr>
              <a:spcAft>
                <a:spcPts val="1000"/>
              </a:spcAft>
              <a:defRPr sz="1900">
                <a:solidFill>
                  <a:srgbClr val="1E2D41"/>
                </a:solidFill>
              </a:defRPr>
            </a:pPr>
            <a:r>
              <a:t>Decision-makers need one trusted pipeline: clean data → analytics → predictions →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Transport Analysis  |  Digital Egypt Pioneers Initiative (DEPI)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63A58"/>
                </a:solidFill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D41"/>
                </a:solidFill>
              </a:defRPr>
            </a:pPr>
            <a:r>
              <a:t>Analyze large public transport datasets and extract meaningful patterns</a:t>
            </a:r>
          </a:p>
          <a:p>
            <a:pPr>
              <a:spcAft>
                <a:spcPts val="1000"/>
              </a:spcAft>
              <a:defRPr sz="2000">
                <a:solidFill>
                  <a:srgbClr val="1E2D41"/>
                </a:solidFill>
              </a:defRPr>
            </a:pPr>
            <a:r>
              <a:t>Build a scalable batch ETL pipeline (Bronze → Silver → Gold)</a:t>
            </a:r>
          </a:p>
          <a:p>
            <a:pPr>
              <a:spcAft>
                <a:spcPts val="1000"/>
              </a:spcAft>
              <a:defRPr sz="2000">
                <a:solidFill>
                  <a:srgbClr val="1E2D41"/>
                </a:solidFill>
              </a:defRPr>
            </a:pPr>
            <a:r>
              <a:t>Run SQL warehouse analytics for operational and strategic KPIs</a:t>
            </a:r>
          </a:p>
          <a:p>
            <a:pPr>
              <a:spcAft>
                <a:spcPts val="1000"/>
              </a:spcAft>
              <a:defRPr sz="2000">
                <a:solidFill>
                  <a:srgbClr val="1E2D41"/>
                </a:solidFill>
              </a:defRPr>
            </a:pPr>
            <a:r>
              <a:t>Apply machine learning to predict fares, delays, and trip segments</a:t>
            </a:r>
          </a:p>
          <a:p>
            <a:pPr>
              <a:spcAft>
                <a:spcPts val="1000"/>
              </a:spcAft>
              <a:defRPr sz="2000">
                <a:solidFill>
                  <a:srgbClr val="1E2D41"/>
                </a:solidFill>
              </a:defRPr>
            </a:pPr>
            <a:r>
              <a:t>Deliver an interactive dashboard for non-technical stakeholders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Transport Analysis  |  Digital Egypt Pioneers Initiative (DEPI)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63A58"/>
                </a:solidFill>
              </a:defRPr>
            </a:pPr>
            <a:r>
              <a:t>Solution Architecture</a:t>
            </a:r>
          </a:p>
          <a:p>
            <a:pPr>
              <a:defRPr sz="1600">
                <a:solidFill>
                  <a:srgbClr val="E67E22"/>
                </a:solidFill>
              </a:defRPr>
            </a:pPr>
            <a:r>
              <a:t>End-to-end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417320" cy="1005840"/>
          </a:xfrm>
          <a:prstGeom prst="rect">
            <a:avLst/>
          </a:prstGeom>
          <a:solidFill>
            <a:srgbClr val="163A58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CSV</a:t>
            </a:r>
            <a:br/>
            <a:r>
              <a:t>Ingestion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2560320"/>
            <a:ext cx="1417320" cy="1005840"/>
          </a:xfrm>
          <a:prstGeom prst="rect">
            <a:avLst/>
          </a:prstGeom>
          <a:solidFill>
            <a:srgbClr val="163A58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Batch ETL</a:t>
            </a:r>
            <a:br/>
            <a:r>
              <a:t>PySpark / Pandas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2560320"/>
            <a:ext cx="1417320" cy="1005840"/>
          </a:xfrm>
          <a:prstGeom prst="rect">
            <a:avLst/>
          </a:prstGeom>
          <a:solidFill>
            <a:srgbClr val="163A58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SQL</a:t>
            </a:r>
            <a:br/>
            <a:r>
              <a:t>Warehouse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2560320"/>
            <a:ext cx="1417320" cy="1005840"/>
          </a:xfrm>
          <a:prstGeom prst="rect">
            <a:avLst/>
          </a:prstGeom>
          <a:solidFill>
            <a:srgbClr val="163A58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Machine</a:t>
            </a:r>
            <a:br/>
            <a:r>
              <a:t>Learning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2560320"/>
            <a:ext cx="1417320" cy="1005840"/>
          </a:xfrm>
          <a:prstGeom prst="rect">
            <a:avLst/>
          </a:prstGeom>
          <a:solidFill>
            <a:srgbClr val="163A58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Streamlit</a:t>
            </a:r>
            <a:br/>
            <a:r>
              <a:t>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2926080"/>
            <a:ext cx="228600" cy="182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49039" y="2926080"/>
            <a:ext cx="228600" cy="182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0" y="2926080"/>
            <a:ext cx="228600" cy="182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223760" y="2926080"/>
            <a:ext cx="228600" cy="182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D41"/>
                </a:solidFill>
              </a:defRPr>
            </a:pPr>
            <a:r>
              <a:t>Modular Python codebase — each stage runs independently or as one pipeline</a:t>
            </a:r>
          </a:p>
          <a:p>
            <a:pPr>
              <a:spcAft>
                <a:spcPts val="1000"/>
              </a:spcAft>
              <a:defRPr sz="1700">
                <a:solidFill>
                  <a:srgbClr val="1E2D41"/>
                </a:solidFill>
              </a:defRPr>
            </a:pPr>
            <a:r>
              <a:t>Automated reports, metrics JSON, and Parquet layers for reproducibility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Transport Analysis  |  Digital Egypt Pioneers Initiative (DEPI)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63A58"/>
                </a:solidFill>
              </a:defRPr>
            </a:pPr>
            <a:r>
              <a:t>Technology Stack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4592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63A58"/>
                          </a:solidFill>
                        </a:defRPr>
                      </a:pPr>
                      <a:r>
                        <a:t>Data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D41"/>
                          </a:solidFill>
                        </a:defRPr>
                      </a:pPr>
                      <a:r>
                        <a:t>Python, Pandas, PySpark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63A58"/>
                          </a:solidFill>
                        </a:defRPr>
                      </a:pPr>
                      <a:r>
                        <a:t>Storage &amp; ETL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D41"/>
                          </a:solidFill>
                        </a:defRPr>
                      </a:pPr>
                      <a:r>
                        <a:t>CSV, Parquet, SQLite Warehouse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63A58"/>
                          </a:solidFill>
                        </a:defRPr>
                      </a:pPr>
                      <a:r>
                        <a:t>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D41"/>
                          </a:solidFill>
                        </a:defRPr>
                      </a:pPr>
                      <a:r>
                        <a:t>SQL, scikit-learn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63A58"/>
                          </a:solidFill>
                        </a:defRPr>
                      </a:pPr>
                      <a:r>
                        <a:t>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D41"/>
                          </a:solidFill>
                        </a:defRPr>
                      </a:pPr>
                      <a:r>
                        <a:t>Matplotlib, Seaborn, Plotly, Streamlit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63A58"/>
                          </a:solidFill>
                        </a:defRPr>
                      </a:pPr>
                      <a:r>
                        <a:t>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D41"/>
                          </a:solidFill>
                        </a:defRPr>
                      </a:pPr>
                      <a:r>
                        <a:t>Batch pipeline, JSON reports, scheduled re-runs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Transport Analysis  |  Digital Egypt Pioneers Initiative (DEPI)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63A58"/>
                </a:solidFill>
              </a:defRPr>
            </a:pPr>
            <a:r>
              <a:t>Batch ETL Pipeline</a:t>
            </a:r>
          </a:p>
          <a:p>
            <a:pPr>
              <a:defRPr sz="1600">
                <a:solidFill>
                  <a:srgbClr val="E67E22"/>
                </a:solidFill>
              </a:defRPr>
            </a:pPr>
            <a:r>
              <a:t>Medallion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828800" cy="822960"/>
          </a:xfrm>
          <a:prstGeom prst="rect">
            <a:avLst/>
          </a:prstGeom>
          <a:solidFill>
            <a:srgbClr val="16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Bronze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73736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D41"/>
                </a:solidFill>
              </a:defRPr>
            </a:pPr>
            <a:r>
              <a:t>Raw transport_trips.csv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80360"/>
            <a:ext cx="1828800" cy="822960"/>
          </a:xfrm>
          <a:prstGeom prst="rect">
            <a:avLst/>
          </a:prstGeom>
          <a:solidFill>
            <a:srgbClr val="296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Silver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97180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D41"/>
                </a:solidFill>
              </a:defRPr>
            </a:pPr>
            <a:r>
              <a:t>Cleaned + features (speed, revenue/km)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114800"/>
            <a:ext cx="182880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Gold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206240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D41"/>
                </a:solidFill>
              </a:defRPr>
            </a:pPr>
            <a:r>
              <a:t>Daily summaries by vehicle, zone, date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Transport Analysis  |  Digital Egypt Pioneers Initiative (DEPI)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63A58"/>
                </a:solidFill>
              </a:defRPr>
            </a:pPr>
            <a:r>
              <a:t>SQL Warehouse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D41"/>
                </a:solidFill>
              </a:defRPr>
            </a:pPr>
            <a:r>
              <a:t>6 analytical queries on SQLite (simulating BigQuery / Snowflake / Redshift)</a:t>
            </a:r>
          </a:p>
          <a:p>
            <a:pPr>
              <a:spcAft>
                <a:spcPts val="1000"/>
              </a:spcAft>
              <a:defRPr sz="1800">
                <a:solidFill>
                  <a:srgbClr val="1E2D41"/>
                </a:solidFill>
              </a:defRPr>
            </a:pPr>
            <a:r>
              <a:t>Revenue by vehicle type and average fare by zone</a:t>
            </a:r>
          </a:p>
          <a:p>
            <a:pPr>
              <a:spcAft>
                <a:spcPts val="1000"/>
              </a:spcAft>
              <a:defRPr sz="1800">
                <a:solidFill>
                  <a:srgbClr val="1E2D41"/>
                </a:solidFill>
              </a:defRPr>
            </a:pPr>
            <a:r>
              <a:t>Delay rate by traffic level and weather impact</a:t>
            </a:r>
          </a:p>
          <a:p>
            <a:pPr>
              <a:spcAft>
                <a:spcPts val="1000"/>
              </a:spcAft>
              <a:defRPr sz="1800">
                <a:solidFill>
                  <a:srgbClr val="1E2D41"/>
                </a:solidFill>
              </a:defRPr>
            </a:pPr>
            <a:r>
              <a:t>Peak-hour demand analysis for capacity planning</a:t>
            </a:r>
          </a:p>
          <a:p>
            <a:pPr>
              <a:spcAft>
                <a:spcPts val="1000"/>
              </a:spcAft>
              <a:defRPr sz="1800">
                <a:solidFill>
                  <a:srgbClr val="1E2D41"/>
                </a:solidFill>
              </a:defRPr>
            </a:pPr>
            <a:r>
              <a:t>Outputs saved to sql/analytics_queries.sql and reports/sql_analytics.json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Transport Analysis  |  Digital Egypt Pioneers Initiative (DEPI)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63A58"/>
                </a:solidFill>
              </a:defRPr>
            </a:pPr>
            <a:r>
              <a:t>Machine Learning Layer</a:t>
            </a:r>
          </a:p>
          <a:p>
            <a:pPr>
              <a:defRPr sz="1600">
                <a:solidFill>
                  <a:srgbClr val="E67E22"/>
                </a:solidFill>
              </a:defRPr>
            </a:pPr>
            <a:r>
              <a:t>Predictive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D41"/>
                </a:solidFill>
              </a:defRPr>
            </a:pPr>
            <a:r>
              <a:t>Fare Regression — predict trip fare from distance, vehicle, zone, traffic, weather</a:t>
            </a:r>
          </a:p>
          <a:p>
            <a:pPr>
              <a:spcAft>
                <a:spcPts val="1000"/>
              </a:spcAft>
              <a:defRPr sz="1700">
                <a:solidFill>
                  <a:srgbClr val="1E2D41"/>
                </a:solidFill>
              </a:defRPr>
            </a:pPr>
            <a:r>
              <a:t>Performance: R² = 0.981, MAE = $1.91</a:t>
            </a:r>
          </a:p>
          <a:p>
            <a:pPr>
              <a:spcAft>
                <a:spcPts val="1000"/>
              </a:spcAft>
              <a:defRPr sz="1700">
                <a:solidFill>
                  <a:srgbClr val="1E2D41"/>
                </a:solidFill>
              </a:defRPr>
            </a:pPr>
            <a:r>
              <a:t>Delay Classification — predict whether a trip will be delayed</a:t>
            </a:r>
          </a:p>
          <a:p>
            <a:pPr>
              <a:spcAft>
                <a:spcPts val="1000"/>
              </a:spcAft>
              <a:defRPr sz="1700">
                <a:solidFill>
                  <a:srgbClr val="1E2D41"/>
                </a:solidFill>
              </a:defRPr>
            </a:pPr>
            <a:r>
              <a:t>Performance: Accuracy = 77.9%</a:t>
            </a:r>
          </a:p>
          <a:p>
            <a:pPr>
              <a:spcAft>
                <a:spcPts val="1000"/>
              </a:spcAft>
              <a:defRPr sz="1700">
                <a:solidFill>
                  <a:srgbClr val="1E2D41"/>
                </a:solidFill>
              </a:defRPr>
            </a:pPr>
            <a:r>
              <a:t>Trip Segmentation (K-Means) — silhouette = 0.323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Transport Analysis  |  Digital Egypt Pioneers Initiative (DEPI)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63A58"/>
                </a:solidFill>
              </a:defRPr>
            </a:pPr>
            <a:r>
              <a:t>Key Results &amp; KPIs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246888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63A58"/>
                </a:solidFill>
              </a:defRPr>
            </a:pPr>
            <a:r>
              <a:t>5,000</a:t>
            </a:r>
          </a:p>
          <a:p>
            <a:pPr algn="ctr">
              <a:defRPr sz="1300">
                <a:solidFill>
                  <a:srgbClr val="5A6978"/>
                </a:solidFill>
              </a:defRPr>
            </a:pPr>
            <a:r>
              <a:t>Trips Analyzed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737360"/>
            <a:ext cx="246888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63A58"/>
                </a:solidFill>
              </a:defRPr>
            </a:pPr>
            <a:r>
              <a:t>$28.18</a:t>
            </a:r>
          </a:p>
          <a:p>
            <a:pPr algn="ctr">
              <a:defRPr sz="1300">
                <a:solidFill>
                  <a:srgbClr val="5A6978"/>
                </a:solidFill>
              </a:defRPr>
            </a:pPr>
            <a:r>
              <a:t>Avg Fare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737360"/>
            <a:ext cx="246888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63A58"/>
                </a:solidFill>
              </a:defRPr>
            </a:pPr>
            <a:r>
              <a:t>30.7%</a:t>
            </a:r>
          </a:p>
          <a:p>
            <a:pPr algn="ctr">
              <a:defRPr sz="1300">
                <a:solidFill>
                  <a:srgbClr val="5A6978"/>
                </a:solidFill>
              </a:defRPr>
            </a:pPr>
            <a:r>
              <a:t>Delay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566160"/>
            <a:ext cx="246888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63A58"/>
                </a:solidFill>
              </a:defRPr>
            </a:pPr>
            <a:r>
              <a:t>Airport</a:t>
            </a:r>
          </a:p>
          <a:p>
            <a:pPr algn="ctr">
              <a:defRPr sz="1300">
                <a:solidFill>
                  <a:srgbClr val="5A6978"/>
                </a:solidFill>
              </a:defRPr>
            </a:pPr>
            <a:r>
              <a:t>Top Fare Zone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3566160"/>
            <a:ext cx="246888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63A58"/>
                </a:solidFill>
              </a:defRPr>
            </a:pPr>
            <a:r>
              <a:t>Taxi</a:t>
            </a:r>
          </a:p>
          <a:p>
            <a:pPr algn="ctr">
              <a:defRPr sz="1300">
                <a:solidFill>
                  <a:srgbClr val="5A6978"/>
                </a:solidFill>
              </a:defRPr>
            </a:pPr>
            <a:r>
              <a:t>Top Revenue Vehicle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Transport Analysis  |  Digital Egypt Pioneers Initiative (DEPI)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63A58"/>
                </a:solidFill>
              </a:defRPr>
            </a:pPr>
            <a:r>
              <a:t>Revenue Analysis</a:t>
            </a:r>
          </a:p>
        </p:txBody>
      </p:sp>
      <p:pic>
        <p:nvPicPr>
          <p:cNvPr id="5" name="Picture 4" descr="revenue_by_vehi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512064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06440" y="164592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Key Insight</a:t>
            </a:r>
          </a:p>
          <a:p>
            <a:pPr>
              <a:defRPr sz="1500">
                <a:solidFill>
                  <a:srgbClr val="1E2D41"/>
                </a:solidFill>
              </a:defRPr>
            </a:pPr>
            <a:r>
              <a:t>Taxi generates the highest total revenue, making it critical for fare optimization.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Transport Analysis  |  Digital Egypt Pioneers Initiative (DEPI)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63A58"/>
                </a:solidFill>
              </a:defRPr>
            </a:pPr>
            <a:r>
              <a:t>Operational Risk: Delays</a:t>
            </a:r>
          </a:p>
        </p:txBody>
      </p:sp>
      <p:pic>
        <p:nvPicPr>
          <p:cNvPr id="5" name="Picture 4" descr="delay_by_traff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512064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06440" y="164592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Key Insight</a:t>
            </a:r>
          </a:p>
          <a:p>
            <a:pPr>
              <a:defRPr sz="1500">
                <a:solidFill>
                  <a:srgbClr val="1E2D41"/>
                </a:solidFill>
              </a:defRPr>
            </a:pPr>
            <a:r>
              <a:t>High traffic shows the strongest delay rate — target congestion hotspots first.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Transport Analysis  |  Digital Egypt Pioneers Initiative (DEPI)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63A58"/>
                </a:solidFill>
              </a:defRPr>
            </a:pPr>
            <a:r>
              <a:t>Demand Planning</a:t>
            </a:r>
          </a:p>
        </p:txBody>
      </p:sp>
      <p:pic>
        <p:nvPicPr>
          <p:cNvPr id="5" name="Picture 4" descr="peak_hour_tri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5120640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06440" y="164592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Key Insight</a:t>
            </a:r>
          </a:p>
          <a:p>
            <a:pPr>
              <a:defRPr sz="1500">
                <a:solidFill>
                  <a:srgbClr val="1E2D41"/>
                </a:solidFill>
              </a:defRPr>
            </a:pPr>
            <a:r>
              <a:t>Clear morning and evening peaks enable smarter fleet scheduling.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Transport Analysis  |  Digital Egypt Pioneers Initiative (DEPI)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63A58"/>
                </a:solidFill>
              </a:defRPr>
            </a:pPr>
            <a:r>
              <a:t>Fare Intelligence</a:t>
            </a:r>
          </a:p>
        </p:txBody>
      </p:sp>
      <p:pic>
        <p:nvPicPr>
          <p:cNvPr id="5" name="Picture 4" descr="distance_vs_f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512064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06440" y="164592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Key Insight</a:t>
            </a:r>
          </a:p>
          <a:p>
            <a:pPr>
              <a:defRPr sz="1500">
                <a:solidFill>
                  <a:srgbClr val="1E2D41"/>
                </a:solidFill>
              </a:defRPr>
            </a:pPr>
            <a:r>
              <a:t>Fare scales with distance but varies by vehicle type — supports dynamic pricing.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Transport Analysis  |  Digital Egypt Pioneers Initiative (DEPI)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63A58"/>
                </a:solidFill>
              </a:defRPr>
            </a:pPr>
            <a:r>
              <a:t>Strategic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D41"/>
                </a:solidFill>
              </a:defRPr>
            </a:pPr>
            <a:r>
              <a:t>Airport and downtown zones command premium fares — pricing strategy opportunity</a:t>
            </a:r>
          </a:p>
          <a:p>
            <a:pPr>
              <a:spcAft>
                <a:spcPts val="1000"/>
              </a:spcAft>
              <a:defRPr sz="1800">
                <a:solidFill>
                  <a:srgbClr val="1E2D41"/>
                </a:solidFill>
              </a:defRPr>
            </a:pPr>
            <a:r>
              <a:t>Taxi leads total revenue; metro and bus serve volume and accessibility</a:t>
            </a:r>
          </a:p>
          <a:p>
            <a:pPr>
              <a:spcAft>
                <a:spcPts val="1000"/>
              </a:spcAft>
              <a:defRPr sz="1800">
                <a:solidFill>
                  <a:srgbClr val="1E2D41"/>
                </a:solidFill>
              </a:defRPr>
            </a:pPr>
            <a:r>
              <a:t>High traffic increases delays to ~38% — prioritize congestion management</a:t>
            </a:r>
          </a:p>
          <a:p>
            <a:pPr>
              <a:spcAft>
                <a:spcPts val="1000"/>
              </a:spcAft>
              <a:defRPr sz="1800">
                <a:solidFill>
                  <a:srgbClr val="1E2D41"/>
                </a:solidFill>
              </a:defRPr>
            </a:pPr>
            <a:r>
              <a:t>Peak hours (7–9 AM, 5–7 PM) show predictable demand surges</a:t>
            </a:r>
          </a:p>
          <a:p>
            <a:pPr>
              <a:spcAft>
                <a:spcPts val="1000"/>
              </a:spcAft>
              <a:defRPr sz="1800">
                <a:solidFill>
                  <a:srgbClr val="1E2D41"/>
                </a:solidFill>
              </a:defRPr>
            </a:pPr>
            <a:r>
              <a:t>Weather (rain/fog) amplifies delay risk — useful for proactive scheduling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Transport Analysis  |  Digital Egypt Pioneers Initiative (DEPI)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63A58"/>
                </a:solidFill>
              </a:defRPr>
            </a:pPr>
            <a:r>
              <a:t>Interactive Dashboard Demo</a:t>
            </a:r>
          </a:p>
          <a:p>
            <a:pPr>
              <a:defRPr sz="1600">
                <a:solidFill>
                  <a:srgbClr val="E67E22"/>
                </a:solidFill>
              </a:defRPr>
            </a:pPr>
            <a:r>
              <a:t>Streamlit Web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D41"/>
                </a:solidFill>
              </a:defRPr>
            </a:pPr>
            <a:r>
              <a:t>Launch: py -m streamlit run dashboard.py</a:t>
            </a:r>
          </a:p>
          <a:p>
            <a:pPr>
              <a:spcAft>
                <a:spcPts val="1000"/>
              </a:spcAft>
              <a:defRPr sz="1800">
                <a:solidFill>
                  <a:srgbClr val="1E2D41"/>
                </a:solidFill>
              </a:defRPr>
            </a:pPr>
            <a:r>
              <a:t>Live KPIs: trips, fare, distance, delay rate, revenue</a:t>
            </a:r>
          </a:p>
          <a:p>
            <a:pPr>
              <a:spcAft>
                <a:spcPts val="1000"/>
              </a:spcAft>
              <a:defRPr sz="1800">
                <a:solidFill>
                  <a:srgbClr val="1E2D41"/>
                </a:solidFill>
              </a:defRPr>
            </a:pPr>
            <a:r>
              <a:t>Filters: vehicle, zone, traffic, weather, date range</a:t>
            </a:r>
          </a:p>
          <a:p>
            <a:pPr>
              <a:spcAft>
                <a:spcPts val="1000"/>
              </a:spcAft>
              <a:defRPr sz="1800">
                <a:solidFill>
                  <a:srgbClr val="1E2D41"/>
                </a:solidFill>
              </a:defRPr>
            </a:pPr>
            <a:r>
              <a:t>Interactive Plotly charts update instantly</a:t>
            </a:r>
          </a:p>
          <a:p>
            <a:pPr>
              <a:spcAft>
                <a:spcPts val="1000"/>
              </a:spcAft>
              <a:defRPr sz="1800">
                <a:solidFill>
                  <a:srgbClr val="1E2D41"/>
                </a:solidFill>
              </a:defRPr>
            </a:pPr>
            <a:r>
              <a:t>Trip-level drill-down table for validation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Transport Analysis  |  Digital Egypt Pioneers Initiative (DEPI)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63A58"/>
                </a:solidFill>
              </a:defRPr>
            </a:pPr>
            <a:r>
              <a:t>Challenges &amp; Solutions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80467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D41"/>
                          </a:solidFill>
                        </a:defRPr>
                      </a:pPr>
                      <a:r>
                        <a:t>Large dataset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D41"/>
                          </a:solidFill>
                        </a:defRPr>
                      </a:pPr>
                      <a:r>
                        <a:t>PySpark ETL with Pandas fallback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D41"/>
                          </a:solidFill>
                        </a:defRPr>
                      </a:pPr>
                      <a:r>
                        <a:t>Data quality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D41"/>
                          </a:solidFill>
                        </a:defRPr>
                      </a:pPr>
                      <a:r>
                        <a:t>Automated cleaning in Silver layer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D41"/>
                          </a:solidFill>
                        </a:defRPr>
                      </a:pPr>
                      <a:r>
                        <a:t>Stakeholder accessibility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D41"/>
                          </a:solidFill>
                        </a:defRPr>
                      </a:pPr>
                      <a:r>
                        <a:t>Streamlit dashboard — no code required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D41"/>
                          </a:solidFill>
                        </a:defRPr>
                      </a:pPr>
                      <a:r>
                        <a:t>Reproducibility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D41"/>
                          </a:solidFill>
                        </a:defRPr>
                      </a:pPr>
                      <a:r>
                        <a:t>Single-command pipeline + versioned outputs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Transport Analysis  |  Digital Egypt Pioneers Initiative (DEPI)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63A58"/>
                </a:solidFill>
              </a:defRPr>
            </a:pPr>
            <a:r>
              <a:t>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D41"/>
                </a:solidFill>
              </a:defRPr>
            </a:pPr>
            <a:r>
              <a:t>Deploy to cloud warehouse (BigQuery / Snowflake) with scheduled batch jobs</a:t>
            </a:r>
          </a:p>
          <a:p>
            <a:pPr>
              <a:spcAft>
                <a:spcPts val="1000"/>
              </a:spcAft>
              <a:defRPr sz="1800">
                <a:solidFill>
                  <a:srgbClr val="1E2D41"/>
                </a:solidFill>
              </a:defRPr>
            </a:pPr>
            <a:r>
              <a:t>Real-time streaming ingestion for live delay alerts</a:t>
            </a:r>
          </a:p>
          <a:p>
            <a:pPr>
              <a:spcAft>
                <a:spcPts val="1000"/>
              </a:spcAft>
              <a:defRPr sz="1800">
                <a:solidFill>
                  <a:srgbClr val="1E2D41"/>
                </a:solidFill>
              </a:defRPr>
            </a:pPr>
            <a:r>
              <a:t>GPS route optimization and geospatial heatmaps</a:t>
            </a:r>
          </a:p>
          <a:p>
            <a:pPr>
              <a:spcAft>
                <a:spcPts val="1000"/>
              </a:spcAft>
              <a:defRPr sz="1800">
                <a:solidFill>
                  <a:srgbClr val="1E2D41"/>
                </a:solidFill>
              </a:defRPr>
            </a:pPr>
            <a:r>
              <a:t>Mobile app for operators and executives</a:t>
            </a:r>
          </a:p>
          <a:p>
            <a:pPr>
              <a:spcAft>
                <a:spcPts val="1000"/>
              </a:spcAft>
              <a:defRPr sz="1800">
                <a:solidFill>
                  <a:srgbClr val="1E2D41"/>
                </a:solidFill>
              </a:defRPr>
            </a:pPr>
            <a:r>
              <a:t>CI/CD automation and pipeline monitoring (MLOps)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A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000">
                <a:solidFill>
                  <a:srgbClr val="E67E22"/>
                </a:solidFill>
              </a:defRPr>
            </a:pPr>
            <a:r>
              <a:t>Transport Analysis — From Data to Decisions</a:t>
            </a:r>
          </a:p>
          <a:p>
            <a:pPr algn="ctr">
              <a:defRPr sz="1800">
                <a:solidFill>
                  <a:srgbClr val="B4C8DC"/>
                </a:solidFill>
              </a:defRPr>
            </a:pPr>
            <a:r>
              <a:t>Questions &amp; Live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1239</Words>
  <Application>Microsoft Office PowerPoint</Application>
  <PresentationFormat>On-screen Show (4:3)</PresentationFormat>
  <Paragraphs>163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Mostafa Fouad</cp:lastModifiedBy>
  <cp:revision>3</cp:revision>
  <dcterms:created xsi:type="dcterms:W3CDTF">2013-01-27T09:14:16Z</dcterms:created>
  <dcterms:modified xsi:type="dcterms:W3CDTF">2026-06-24T18:47:39Z</dcterms:modified>
  <cp:category/>
</cp:coreProperties>
</file>