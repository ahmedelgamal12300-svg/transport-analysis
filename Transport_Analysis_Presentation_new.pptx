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59011-11B8-4CAF-B7F8-A69666872D9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F1BF8-8DEC-4E1A-A780-DB5E617F4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agenda so the audience knows the structure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introduce each team member and their focus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business problem: operators need faster, predictive insight from trip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each Python module as a component and how data flows between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DataPaths, pipeline functions, and how main.py uses each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Trace the call order: load data → ETL → SQL → ML → report → console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 Offer a short live demo of the dashboard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DIGITAL EGYPT PIONEERS INITIATIVE (DEPI)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E3A5F"/>
                </a:solidFill>
                <a:latin typeface="Calibri"/>
              </a:rPr>
              <a:t>Transport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Calibri"/>
              </a:rPr>
              <a:t>End-to-End Public Transport Analytics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AI &amp; Data Science Track  ·  Graduation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766E"/>
                </a:solidFill>
                <a:latin typeface="Calibri"/>
              </a:rPr>
              <a:t>Python  ·  Pandas  ·  PySpark  ·  SQL  ·  scikit-learn  ·  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44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Problem &amp;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762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Solution architecture, UML diagrams &amp; technology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07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Data design, ETL, and SQL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393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Machine learning models &amp;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708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Reporting, dashboard &amp; live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3776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02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Insights, impact &amp; next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Project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DEPI — AI &amp; Data Science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Ahmed El-Gamal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Calibri"/>
              </a:rPr>
              <a:t>Pipeline / ETL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46304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19" y="146304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39" y="1920240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rgbClr val="1E3A5F"/>
                </a:solidFill>
                <a:latin typeface="Calibri"/>
              </a:rPr>
              <a:t>Maryam Khaled</a:t>
            </a:r>
            <a:endParaRPr sz="1600" b="1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39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Calibri"/>
              </a:rPr>
              <a:t>SQL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46304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59" y="146304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9" y="1920240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E3A5F"/>
                </a:solidFill>
                <a:latin typeface="Calibri"/>
              </a:rPr>
              <a:t>Youssef Mustafa</a:t>
            </a:r>
          </a:p>
          <a:p>
            <a:pPr algn="l"/>
            <a:endParaRPr sz="1600" b="1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79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Calibri"/>
              </a:rPr>
              <a:t>Machine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Mariam Tarek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Calibri"/>
              </a:rPr>
              <a:t>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19" y="35661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19" y="356616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39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Mostafa Fouad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Calibri"/>
              </a:rPr>
              <a:t>Dashboard /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5661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59" y="356616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9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Nada Ahmed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Calibri"/>
              </a:rPr>
              <a:t>Documentation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Why transport analytics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The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48132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Public transport operators generate large volumes of trip data daily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53288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06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Fares, delays, zones, weather, and traffic interact in complex ways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58444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Manual reporting is slow and does not support predictive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39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636007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0915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Need one pipeline: clean data → SQL insights → ML forecasts → interactive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Load or generate realistic trip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Bronze → Silver → Gold medallion ETL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SQL warehouse queries for ops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Fare, delay, and trip segmentation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566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80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Automated Markdown + PNG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566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480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Interactive Streamlit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How the system is designed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End-to-End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1.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766E"/>
                </a:solidFill>
                <a:latin typeface="Calibri"/>
              </a:rPr>
              <a:t>data_pipeline.py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3716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2. Batch ETL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766E"/>
                </a:solidFill>
                <a:latin typeface="Calibri"/>
              </a:rPr>
              <a:t>spark_etl.py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3.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766E"/>
                </a:solidFill>
                <a:latin typeface="Calibri"/>
              </a:rPr>
              <a:t>sql_analytics.py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3716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799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4.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766E"/>
                </a:solidFill>
                <a:latin typeface="Calibri"/>
              </a:rPr>
              <a:t>train_ai_model.py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999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3716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5.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766E"/>
                </a:solidFill>
                <a:latin typeface="Calibri"/>
              </a:rPr>
              <a:t>analysis_report.py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3716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327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6.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766E"/>
                </a:solidFill>
                <a:latin typeface="Calibri"/>
              </a:rPr>
              <a:t>dashboard.py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Orchestrator: src/main.py runs stages 1–5 in order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Dashboard is a separate entry point reusing the same dataset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Outputs land in data/ and reports/ for demos and grading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UML Component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Modules, data stores, and how main.py orchestrates the pipeline</a:t>
            </a:r>
          </a:p>
        </p:txBody>
      </p:sp>
      <p:pic>
        <p:nvPicPr>
          <p:cNvPr id="6" name="Picture 5" descr="uml_compon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143000"/>
            <a:ext cx="9437370" cy="54986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UML 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Core classes and public functions in each source module</a:t>
            </a:r>
          </a:p>
        </p:txBody>
      </p:sp>
      <p:pic>
        <p:nvPicPr>
          <p:cNvPr id="6" name="Picture 5" descr="uml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11338560" cy="68553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UML Sequence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Step-by-step execution when running py src/main.py</a:t>
            </a:r>
          </a:p>
        </p:txBody>
      </p:sp>
      <p:pic>
        <p:nvPicPr>
          <p:cNvPr id="6" name="Picture 5" descr="uml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11338560" cy="66688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1945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21945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Python 3.10+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Pandas / 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PyArrow (Parquet)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325880"/>
            <a:ext cx="21945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1325880"/>
            <a:ext cx="21945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PySpark (optional)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Pandas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566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Medallion layers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325880"/>
            <a:ext cx="21945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74920" y="1325880"/>
            <a:ext cx="21945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SQLite 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SQL aggregations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566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JSON exports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39" y="1325880"/>
            <a:ext cx="21945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06639" y="1325880"/>
            <a:ext cx="21945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39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scikit-learn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RandomForest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3566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KMeans clustering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1325880"/>
            <a:ext cx="21945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738360" y="1325880"/>
            <a:ext cx="21945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836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Viz /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Matplotlib / Seaborn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Streamlit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566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Plotly charts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Repository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onsolas"/>
              </a:rPr>
              <a:t>src/              main, data_pipeline, spark_etl, sql_analytics, train_ai_model, analysis_report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onsolas"/>
              </a:rPr>
              <a:t>data/raw          transport_trips.csv (Bronze)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onsolas"/>
              </a:rPr>
              <a:t>data/silver       cleaned Parquet with engineered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onsolas"/>
              </a:rPr>
              <a:t>data/gold         daily aggregated summaries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onsolas"/>
              </a:rPr>
              <a:t>data/warehouse    transport.db (SQLite analytics)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onsolas"/>
              </a:rPr>
              <a:t>sql/              analytics_queries.sql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onsolas"/>
              </a:rPr>
              <a:t>reports/          metrics JSON, clustered CSV, figures, Markdown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onsolas"/>
              </a:rPr>
              <a:t>dashboard.py      Streamlit interactive website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Calibri"/>
              </a:rPr>
              <a:t>Data &amp; 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From raw trips to gold summaries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Trip Data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5,000 synthetic trips  ·  seed = 42 for reproducibility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Core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trip_id, trip_date, pickup_hour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vehicle_type: Taxi / Bus / Metro / RideShare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zone: Downtown, Airport, Suburb, Industrial, Coastal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trip_distance_km, trip_duration_min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passenger_count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Fare, Context &amp;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base_fare, tip_amount, total_fare (ML target)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payment_type: Cash / Card / Mobile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weather, traffic_level, delay_minutes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is_delayed (1 if delay &gt; 5 min) — ML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Synthetic Data Design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356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Calibri"/>
              </a:rPr>
              <a:t>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43560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Gamma distribution per vehicle type, clipped to 0.5–45 km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Calibri"/>
              </a:rPr>
              <a:t>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5000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distance × random factor × traffic × weather multipliers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644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Calibri"/>
              </a:rPr>
              <a:t>Fare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6440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distance × rate_per_km × zone multiplier + tip by payment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4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78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Calibri"/>
              </a:rPr>
              <a:t>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17880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traffic × Exp(2.5) + rain/fog bonus; delayed if &gt; 5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932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Calibri"/>
              </a:rPr>
              <a:t>Reproducibility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09320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Fixed seed (42); load CSV if present, else generate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Medallion ETL: Bronze → Silver → Gold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611880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Raw CSV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transport_trips.csv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5,000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As-recorded trips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361188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4173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74519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Clean +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51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dropna +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54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speed_kmh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657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revenue_per_km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is_peak_hour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663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Parquet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32588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80" y="1325880"/>
            <a:ext cx="36118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14173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874519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Daily aggregates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651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groupby date × vehicle × 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154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trip_count,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657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avg_fare, delay_rate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3,522 summary rows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Feature Engineering &amp; Engine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speed_kmh = distance / (duration in hours)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revenue_per_km = total_fare / distance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is_peak_hour = 1 if pickup hour is 7–9 or 17–19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run_batch_etl() probes Java → PySpark; otherwise identical Pandas path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Writes reports/etl_report.json (engine, row counts, output paths)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Latest run: engine = pandas · 5,000 silver · 3,522 gold 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Calibri"/>
              </a:rPr>
              <a:t>SQL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Warehouse queries and business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SQLite Analytics Warehouse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8132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Load Silver Parquet (or raw CSV fallback) into data/warehouse/transport.db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5000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Replace table transport_trips on each pipeline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1868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Execute 6 analytical queries via pandas.read_sql_query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199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87367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Export results → reports/sql_analytics.json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5488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5604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Regenerate sql/analytics_queries.sql for documentation and reuse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Six Analytical SQL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onsolas"/>
              </a:rPr>
              <a:t>daily_trip_volume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Trips &amp; revenue per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onsolas"/>
              </a:rPr>
              <a:t>avg_fare_by_zone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Premium zones by avg fare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onsolas"/>
              </a:rPr>
              <a:t>delay_rate_by_traffic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Delay hotspot by traffic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74320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onsolas"/>
              </a:rPr>
              <a:t>revenue_by_vehicle_type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Revenue ranking by mode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onsolas"/>
              </a:rPr>
              <a:t>peak_hour_analysis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Demand &amp; delay by hour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0624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onsolas"/>
              </a:rPr>
              <a:t>weather_impact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Weather vs delay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SQL Highlights (Latest Run)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766E"/>
                </a:solidFill>
                <a:latin typeface="Calibri"/>
              </a:rPr>
              <a:t>38.4%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High traffic delay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737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766E"/>
                </a:solidFill>
                <a:latin typeface="Calibri"/>
              </a:rPr>
              <a:t>$65,182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Taxi total revenue (leader)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766E"/>
                </a:solidFill>
                <a:latin typeface="Calibri"/>
              </a:rPr>
              <a:t>$35.47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Airport avg fare (premium)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Airport and Downtown command higher average fares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High traffic is the clearest delay hotspot for operations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Taxi leads revenue; Metro/Bus compete on volume and lower fares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Calibri"/>
              </a:rP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Predict fares, delays, and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Three-Model ML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61188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Fare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RandomForestRegressor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200 trees, seed=42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Target: total_fare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R² = 0.981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MAE = $1.91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611880" cy="777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4630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Delay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31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RandomForestClassifier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200 trees, seed=42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29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Target: is_delayed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39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Accuracy = 77.9%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Base delay rate = 30.7%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80" y="1280160"/>
            <a:ext cx="361188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14630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Trip Clustering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KMeans (k=4)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803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Scaled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29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distance, duration,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77639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fare, delay_minutes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262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Silhouette = 0.323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Preprocessing &amp; Leakage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ColumnTransformer: StandardScaler on numeric features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OneHotEncoder(handle_unknown='ignore') on categoricals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Features: hour, vehicle, zone, distance, duration, passengers, payment, weather, traffic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Excluded from X: total_fare, is_delayed, tip_amount, delay_minutes, trip_id, trip_date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Pipeline = preprocessor + model; train_test_split 80/20, random_state=42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Same split seed for regression and classification → comparable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Interpreting Model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R² 0.981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Distance, vehicle type, and zone dominate fare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MAE $1.91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86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Predictions are close enough for pricing analytics demos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Accuracy 77.9%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Useful ops signal despite stochastic traffic/weather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Silhouette 0.323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80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Moderate separation: short urban vs longer airport patterns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Visual Insights — Fare &amp; Distance</a:t>
            </a:r>
          </a:p>
        </p:txBody>
      </p:sp>
      <p:pic>
        <p:nvPicPr>
          <p:cNvPr id="5" name="Picture 4" descr="fa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754112" cy="4846320"/>
          </a:xfrm>
          <a:prstGeom prst="rect">
            <a:avLst/>
          </a:prstGeom>
        </p:spPr>
      </p:pic>
      <p:pic>
        <p:nvPicPr>
          <p:cNvPr id="6" name="Picture 5" descr="distance_vs_f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7754112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Visual Insights — Delays &amp; Revenue</a:t>
            </a:r>
          </a:p>
        </p:txBody>
      </p:sp>
      <p:pic>
        <p:nvPicPr>
          <p:cNvPr id="5" name="Picture 4" descr="delay_by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3749039" cy="2343149"/>
          </a:xfrm>
          <a:prstGeom prst="rect">
            <a:avLst/>
          </a:prstGeom>
        </p:spPr>
      </p:pic>
      <p:pic>
        <p:nvPicPr>
          <p:cNvPr id="6" name="Picture 5" descr="revenue_by_veh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34440"/>
            <a:ext cx="3749039" cy="2343149"/>
          </a:xfrm>
          <a:prstGeom prst="rect">
            <a:avLst/>
          </a:prstGeom>
        </p:spPr>
      </p:pic>
      <p:pic>
        <p:nvPicPr>
          <p:cNvPr id="7" name="Picture 6" descr="peak_hour_tri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234440"/>
            <a:ext cx="3749039" cy="1874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Calibri"/>
              </a:rPr>
              <a:t>Dashboard &amp;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Interactive exploration for stakeholders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Streamlit 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KPIs: trips, fare, distance, delay, revenue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ML metric cards from model_metrics.json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Sidebar filters update all charts live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Plotly dual-axis &amp; scatter charts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Sortable trip records table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Run: py -m streamlit run dashboard.py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URL: http://localhost:8501</a:t>
            </a:r>
          </a:p>
        </p:txBody>
      </p:sp>
      <p:pic>
        <p:nvPicPr>
          <p:cNvPr id="6" name="Picture 5" descr="Screenshot 2026-06-24 225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12080" cy="25047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How to Run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Offline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onsolas"/>
              </a:rPr>
              <a:t>py -m pip install -r requirements.txt
py src/main.py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Produces Parquet, SQLite,
metrics, figures, Markdown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Interactive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onsolas"/>
              </a:rPr>
              <a:t>py -m streamlit run dashboard.py
or double-click run_website.bat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023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Opens localhost:8501
Filters · KPIs · Charts ·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Key Insights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1.  Distance and vehicle type strongly drive fare levels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2.  Airport / Downtown are premium zones; Taxi leads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3.  High traffic and adverse weather raise delay risk — actionable for 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4.  Trip segments separate short urban hops from longer airport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5079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5.  One reproducible pipeline from raw CSV to dashboard-ready 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852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6.  Ready for demos, grading, and extension to real operator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E3A5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766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Ahmed El-Gamal  ·  Youssef Mustafa  ·  Maryam Khaled  ·  Mariam Tarek  ·  Mostafa Fouad  ·  Nada Ahmed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DEPI — AI &amp; Data Science  ·  Transport Analysis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6510528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Transport Analysis  ·  DEPI AI &amp;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2020</Words>
  <Application>Microsoft Office PowerPoint</Application>
  <PresentationFormat>Widescreen</PresentationFormat>
  <Paragraphs>349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Mostafa Fouad</cp:lastModifiedBy>
  <cp:revision>2</cp:revision>
  <dcterms:created xsi:type="dcterms:W3CDTF">2013-01-27T09:14:16Z</dcterms:created>
  <dcterms:modified xsi:type="dcterms:W3CDTF">2026-07-11T10:33:29Z</dcterms:modified>
  <cp:category/>
</cp:coreProperties>
</file>